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58320"/>
                </a:solidFill>
              </a:rPr>
              <a:t>BÁO CÁO TUẦN — [Điền tên phòng ban]</a:t>
            </a:r>
          </a:p>
        </p:txBody>
      </p:sp>
      <p:sp>
        <p:nvSpPr>
          <p:cNvPr id="3" name="Rectangle 2"/>
          <p:cNvSpPr/>
          <p:nvPr/>
        </p:nvSpPr>
        <p:spPr>
          <a:xfrm>
            <a:off x="5364784" y="3977639"/>
            <a:ext cx="1463040" cy="50800"/>
          </a:xfrm>
          <a:prstGeom prst="rect">
            <a:avLst/>
          </a:prstGeom>
          <a:solidFill>
            <a:srgbClr val="FFB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64748B"/>
                </a:solidFill>
              </a:rPr>
              <a:t>Người báo cáo: [Họ tên]  —  Tuần: [dd/mm - dd/mm/yyyy]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D86C0A"/>
                </a:solidFill>
              </a:rPr>
              <a:t>CÁC CÔNG VIỆC THỰC HIỆN TRONG TUẦN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5120640"/>
                <a:gridCol w="2103120"/>
                <a:gridCol w="1463040"/>
                <a:gridCol w="1554480"/>
              </a:tblGrid>
              <a:tr h="98755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E293B"/>
                          </a:solidFill>
                        </a:rPr>
                        <a:t>#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E293B"/>
                          </a:solidFill>
                        </a:rPr>
                        <a:t>Nội dung công việc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E293B"/>
                          </a:solidFill>
                        </a:rPr>
                        <a:t>Tiến độ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E293B"/>
                          </a:solidFill>
                        </a:rPr>
                        <a:t>Deadline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E293B"/>
                          </a:solidFill>
                        </a:rPr>
                        <a:t>Hỗ trợ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E293B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E293B"/>
                          </a:solidFill>
                        </a:rPr>
                        <a:t>Tên mục lớn (VD: Dự án A) — để trống nếu không cần nhóm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VD: Hoàn thành báo giá gửi khách hàng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Đã hoàn thành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20/08/2026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Phòng Kế toán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D86C0A"/>
                </a:solidFill>
              </a:rPr>
              <a:t>KẾ HOẠCH CÔNG VIỆC TIẾP THEO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5120640"/>
                <a:gridCol w="2103120"/>
                <a:gridCol w="1463040"/>
                <a:gridCol w="1554480"/>
              </a:tblGrid>
              <a:tr h="98755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E293B"/>
                          </a:solidFill>
                        </a:rPr>
                        <a:t>#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E293B"/>
                          </a:solidFill>
                        </a:rPr>
                        <a:t>Nội dung công việc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E293B"/>
                          </a:solidFill>
                        </a:rPr>
                        <a:t>Kế hoạch tiếp theo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E293B"/>
                          </a:solidFill>
                        </a:rPr>
                        <a:t>Deadline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E293B"/>
                          </a:solidFill>
                        </a:rPr>
                        <a:t>Hỗ trợ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E293B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E293B"/>
                          </a:solidFill>
                        </a:rPr>
                        <a:t>Tên mục lớn (VD: Dự án A) — để trống nếu không cần nhóm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VD: Hoàn thành báo giá gửi khách hàng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Đã hoàn thành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20/08/2026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Phòng Kế toán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D86C0A"/>
                </a:solidFill>
              </a:rPr>
              <a:t>SỐ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solidFill>
            <a:srgbClr val="FFF3E0"/>
          </a:solidFill>
          <a:ln w="12700">
            <a:solidFill>
              <a:srgbClr val="F0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400">
                <a:solidFill>
                  <a:srgbClr val="64748B"/>
                </a:solidFill>
              </a:rPr>
              <a:t>Nhập số liệu, kết quả, KPI tuần này... hoặc dán ảnh biểu đồ/bảng số liệu vào đây.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